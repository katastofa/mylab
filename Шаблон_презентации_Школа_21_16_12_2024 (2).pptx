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70" r:id="rId4"/>
    <p:sldId id="261" r:id="rId5"/>
    <p:sldId id="268" r:id="rId6"/>
    <p:sldId id="262" r:id="rId7"/>
    <p:sldId id="267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5050"/>
    <a:srgbClr val="FF0066"/>
    <a:srgbClr val="00F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03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6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69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C60C-2B89-E2B6-09D6-016AE6A2E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C9994-77B5-3A88-058E-53751E043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85EA3-02F6-1091-DDE3-EBFDA44C5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0765F-8061-1751-428D-452B9D3A93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26" Type="http://schemas.openxmlformats.org/officeDocument/2006/relationships/image" Target="../media/image35.png"/><Relationship Id="rId39" Type="http://schemas.openxmlformats.org/officeDocument/2006/relationships/image" Target="../media/image46.png"/><Relationship Id="rId21" Type="http://schemas.openxmlformats.org/officeDocument/2006/relationships/image" Target="../media/image30.svg"/><Relationship Id="rId34" Type="http://schemas.openxmlformats.org/officeDocument/2006/relationships/image" Target="../media/image43.png"/><Relationship Id="rId42" Type="http://schemas.openxmlformats.org/officeDocument/2006/relationships/image" Target="../media/image4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5.sv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24" Type="http://schemas.openxmlformats.org/officeDocument/2006/relationships/image" Target="../media/image33.svg"/><Relationship Id="rId32" Type="http://schemas.openxmlformats.org/officeDocument/2006/relationships/image" Target="../media/image41.svg"/><Relationship Id="rId37" Type="http://schemas.openxmlformats.org/officeDocument/2006/relationships/image" Target="../media/image9.png"/><Relationship Id="rId40" Type="http://schemas.openxmlformats.org/officeDocument/2006/relationships/image" Target="../media/image47.png"/><Relationship Id="rId45" Type="http://schemas.openxmlformats.org/officeDocument/2006/relationships/image" Target="../media/image52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10" Type="http://schemas.openxmlformats.org/officeDocument/2006/relationships/image" Target="../media/image19.sv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4" Type="http://schemas.openxmlformats.org/officeDocument/2006/relationships/image" Target="../media/image51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Relationship Id="rId22" Type="http://schemas.openxmlformats.org/officeDocument/2006/relationships/image" Target="../media/image31.sv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35" Type="http://schemas.openxmlformats.org/officeDocument/2006/relationships/image" Target="../media/image44.svg"/><Relationship Id="rId43" Type="http://schemas.openxmlformats.org/officeDocument/2006/relationships/image" Target="../media/image50.png"/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12" Type="http://schemas.openxmlformats.org/officeDocument/2006/relationships/image" Target="../media/image21.svg"/><Relationship Id="rId17" Type="http://schemas.openxmlformats.org/officeDocument/2006/relationships/image" Target="../media/image26.png"/><Relationship Id="rId25" Type="http://schemas.openxmlformats.org/officeDocument/2006/relationships/image" Target="../media/image34.svg"/><Relationship Id="rId33" Type="http://schemas.openxmlformats.org/officeDocument/2006/relationships/image" Target="../media/image42.png"/><Relationship Id="rId38" Type="http://schemas.openxmlformats.org/officeDocument/2006/relationships/image" Target="../media/image10.png"/><Relationship Id="rId20" Type="http://schemas.openxmlformats.org/officeDocument/2006/relationships/image" Target="../media/image29.svg"/><Relationship Id="rId41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10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9.png"/><Relationship Id="rId3" Type="http://schemas.openxmlformats.org/officeDocument/2006/relationships/image" Target="../media/image48.png"/><Relationship Id="rId7" Type="http://schemas.openxmlformats.org/officeDocument/2006/relationships/image" Target="../media/image47.png"/><Relationship Id="rId12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50.png"/><Relationship Id="rId5" Type="http://schemas.openxmlformats.org/officeDocument/2006/relationships/image" Target="../media/image63.png"/><Relationship Id="rId10" Type="http://schemas.openxmlformats.org/officeDocument/2006/relationships/image" Target="../media/image66.png"/><Relationship Id="rId4" Type="http://schemas.openxmlformats.org/officeDocument/2006/relationships/image" Target="../media/image49.png"/><Relationship Id="rId9" Type="http://schemas.openxmlformats.org/officeDocument/2006/relationships/image" Target="../media/image46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276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21  Q3   Q4"/>
          <p:cNvSpPr/>
          <p:nvPr/>
        </p:nvSpPr>
        <p:spPr>
          <a:xfrm>
            <a:off x="2062353" y="3166110"/>
            <a:ext cx="13925555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553"/>
              </a:lnSpc>
              <a:buNone/>
            </a:pPr>
            <a:r>
              <a:rPr lang="ru-RU" sz="7775" b="1" dirty="0">
                <a:solidFill>
                  <a:srgbClr val="FFFFFF"/>
                </a:solidFill>
                <a:latin typeface="Stem Bold" pitchFamily="34" charset="0"/>
                <a:ea typeface="Stem Bold" pitchFamily="34" charset="-122"/>
              </a:rPr>
              <a:t>Техподдержка School 21 TAS</a:t>
            </a:r>
            <a:br>
              <a:rPr lang="en-US" sz="7775" b="1" dirty="0">
                <a:solidFill>
                  <a:srgbClr val="FFFFFF"/>
                </a:solidFill>
                <a:latin typeface="Stem Bold" pitchFamily="34" charset="0"/>
                <a:ea typeface="Stem Bold" pitchFamily="34" charset="-122"/>
              </a:rPr>
            </a:br>
            <a:r>
              <a:rPr lang="ru-RU" sz="7775" b="1" dirty="0">
                <a:solidFill>
                  <a:srgbClr val="FFFFFF"/>
                </a:solidFill>
                <a:latin typeface="Stem Bold" pitchFamily="34" charset="0"/>
                <a:ea typeface="Stem Bold" pitchFamily="34" charset="-122"/>
              </a:rPr>
              <a:t>Как мы работаем с техническими вопросами студентов</a:t>
            </a:r>
            <a:endParaRPr lang="en-US" sz="7775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D0886E-CDC8-4708-A2BF-EDA2CE862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475" y="714374"/>
            <a:ext cx="2314575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rame 2043682995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7706" y="2102532"/>
            <a:ext cx="15016387" cy="1433736"/>
          </a:xfrm>
          <a:prstGeom prst="rect">
            <a:avLst/>
          </a:prstGeom>
        </p:spPr>
      </p:pic>
      <p:pic>
        <p:nvPicPr>
          <p:cNvPr id="5" name="Frame 2043682996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7706" y="3778932"/>
            <a:ext cx="15016387" cy="1433736"/>
          </a:xfrm>
          <a:prstGeom prst="rect">
            <a:avLst/>
          </a:prstGeom>
        </p:spPr>
      </p:pic>
      <p:pic>
        <p:nvPicPr>
          <p:cNvPr id="6" name="Frame 2043682997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7706" y="5455332"/>
            <a:ext cx="14997337" cy="1433736"/>
          </a:xfrm>
          <a:prstGeom prst="rect">
            <a:avLst/>
          </a:prstGeom>
        </p:spPr>
      </p:pic>
      <p:pic>
        <p:nvPicPr>
          <p:cNvPr id="7" name="Frame 2043682998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7706" y="7131732"/>
            <a:ext cx="15016387" cy="1433736"/>
          </a:xfrm>
          <a:prstGeom prst="rect">
            <a:avLst/>
          </a:prstGeom>
        </p:spPr>
      </p:pic>
      <p:sp>
        <p:nvSpPr>
          <p:cNvPr id="8" name="name_6"/>
          <p:cNvSpPr/>
          <p:nvPr/>
        </p:nvSpPr>
        <p:spPr>
          <a:xfrm>
            <a:off x="752475" y="9401175"/>
            <a:ext cx="190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2917"/>
              </a:lnSpc>
              <a:buNone/>
            </a:pPr>
            <a:endParaRPr lang="en-US" sz="1945" dirty="0"/>
          </a:p>
        </p:txBody>
      </p:sp>
      <p:sp>
        <p:nvSpPr>
          <p:cNvPr id="9" name="Text 1"/>
          <p:cNvSpPr/>
          <p:nvPr/>
        </p:nvSpPr>
        <p:spPr>
          <a:xfrm>
            <a:off x="1609725" y="561975"/>
            <a:ext cx="89725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//</a:t>
            </a:r>
            <a:r>
              <a:rPr lang="ru-RU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Наш </a:t>
            </a:r>
            <a:r>
              <a:rPr lang="en-US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scope </a:t>
            </a:r>
            <a:r>
              <a:rPr lang="ru-RU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работы</a:t>
            </a:r>
            <a:endParaRPr lang="en-US" sz="4200" dirty="0"/>
          </a:p>
        </p:txBody>
      </p:sp>
      <p:sp>
        <p:nvSpPr>
          <p:cNvPr id="10" name="name_1  - GigaCode"/>
          <p:cNvSpPr/>
          <p:nvPr/>
        </p:nvSpPr>
        <p:spPr>
          <a:xfrm>
            <a:off x="1962151" y="2438400"/>
            <a:ext cx="1434160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66"/>
              </a:lnSpc>
              <a:buNone/>
            </a:pPr>
            <a:r>
              <a:rPr lang="ru-RU" sz="2625" b="1" kern="0" spc="-75" dirty="0">
                <a:solidFill>
                  <a:srgbClr val="00FFAF"/>
                </a:solidFill>
                <a:latin typeface="Stem Bold" pitchFamily="34" charset="0"/>
                <a:ea typeface="Stem Bold" pitchFamily="34" charset="-122"/>
                <a:cs typeface="Stem Bold" pitchFamily="34" charset="-120"/>
              </a:rPr>
              <a:t>Технические проблемы:</a:t>
            </a:r>
            <a:r>
              <a:rPr lang="en-US" sz="2625" b="1" kern="0" spc="-75" dirty="0">
                <a:solidFill>
                  <a:srgbClr val="00FFAF"/>
                </a:solidFill>
                <a:latin typeface="Stem Bold" pitchFamily="34" charset="0"/>
                <a:ea typeface="Stem Bold" pitchFamily="34" charset="-122"/>
                <a:cs typeface="Stem Bold" pitchFamily="34" charset="-120"/>
              </a:rPr>
              <a:t> </a:t>
            </a:r>
            <a:r>
              <a:rPr lang="ru-RU" sz="2625" b="1" kern="0" spc="-75" dirty="0">
                <a:solidFill>
                  <a:srgbClr val="00FFAF"/>
                </a:solidFill>
                <a:latin typeface="Stem Bold" pitchFamily="34" charset="0"/>
                <a:ea typeface="Stem Bold" pitchFamily="34" charset="-122"/>
                <a:cs typeface="Stem Bold" pitchFamily="34" charset="-120"/>
              </a:rPr>
              <a:t>оборудование, софт, доступы, платформа</a:t>
            </a:r>
            <a:endParaRPr lang="en-US" sz="2625" dirty="0">
              <a:solidFill>
                <a:schemeClr val="bg1"/>
              </a:solidFill>
              <a:latin typeface="Stem Light" panose="020B0503020203020204" pitchFamily="34" charset="77"/>
              <a:ea typeface="Stem Light" panose="020B0503020203020204" pitchFamily="34" charset="77"/>
            </a:endParaRPr>
          </a:p>
        </p:txBody>
      </p:sp>
      <p:sp>
        <p:nvSpPr>
          <p:cNvPr id="11" name="name_2  FAQ-             83   RAG  GigaChat"/>
          <p:cNvSpPr/>
          <p:nvPr/>
        </p:nvSpPr>
        <p:spPr>
          <a:xfrm>
            <a:off x="1962151" y="4114800"/>
            <a:ext cx="1371860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66"/>
              </a:lnSpc>
              <a:buNone/>
            </a:pPr>
            <a:r>
              <a:rPr lang="ru-RU" sz="2625" b="1" kern="0" spc="-75" dirty="0">
                <a:solidFill>
                  <a:srgbClr val="00FFAF"/>
                </a:solidFill>
                <a:latin typeface="Stem Bold" pitchFamily="34" charset="0"/>
                <a:ea typeface="Stem Bold" pitchFamily="34" charset="-122"/>
                <a:cs typeface="Stem Bold" pitchFamily="34" charset="-120"/>
              </a:rPr>
              <a:t>Системные вопросы: дедлайны, peer-оценки(завис автотест)</a:t>
            </a:r>
            <a:endParaRPr lang="en-US" sz="2625" dirty="0"/>
          </a:p>
        </p:txBody>
      </p:sp>
      <p:sp>
        <p:nvSpPr>
          <p:cNvPr id="12" name="name_3     -   Code Review"/>
          <p:cNvSpPr/>
          <p:nvPr/>
        </p:nvSpPr>
        <p:spPr>
          <a:xfrm>
            <a:off x="1962150" y="5791200"/>
            <a:ext cx="140374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66"/>
              </a:lnSpc>
              <a:buNone/>
            </a:pPr>
            <a:r>
              <a:rPr lang="ru-RU" sz="2625" b="1" kern="0" spc="-75" dirty="0">
                <a:solidFill>
                  <a:srgbClr val="FF6600"/>
                </a:solidFill>
                <a:latin typeface="Stem Bold" pitchFamily="34" charset="0"/>
                <a:ea typeface="Stem Bold" pitchFamily="34" charset="-122"/>
                <a:cs typeface="Stem Bold" pitchFamily="34" charset="-120"/>
              </a:rPr>
              <a:t>НЕ решаем: Методические вопросы (как решить задачу, объяснение subject)</a:t>
            </a:r>
            <a:endParaRPr lang="en-US" sz="2625" dirty="0">
              <a:solidFill>
                <a:srgbClr val="FF6600"/>
              </a:solidFill>
            </a:endParaRPr>
          </a:p>
        </p:txBody>
      </p:sp>
      <p:sp>
        <p:nvSpPr>
          <p:cNvPr id="13" name="name_4     -"/>
          <p:cNvSpPr/>
          <p:nvPr/>
        </p:nvSpPr>
        <p:spPr>
          <a:xfrm>
            <a:off x="1962150" y="7467600"/>
            <a:ext cx="1292950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66"/>
              </a:lnSpc>
              <a:buNone/>
            </a:pPr>
            <a:endParaRPr lang="en-US" sz="2625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56DAFCB-F3B8-26D4-00AC-EA2E938786AC}"/>
              </a:ext>
            </a:extLst>
          </p:cNvPr>
          <p:cNvSpPr/>
          <p:nvPr/>
        </p:nvSpPr>
        <p:spPr>
          <a:xfrm>
            <a:off x="483687" y="390525"/>
            <a:ext cx="824760" cy="8140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oup 2043683003">
            <a:extLst>
              <a:ext uri="{FF2B5EF4-FFF2-40B4-BE49-F238E27FC236}">
                <a16:creationId xmlns:a16="http://schemas.microsoft.com/office/drawing/2014/main" id="{FB6C0F9F-2914-1EFB-795D-A748A9EA4C5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072"/>
          <a:stretch/>
        </p:blipFill>
        <p:spPr>
          <a:xfrm>
            <a:off x="504825" y="1252903"/>
            <a:ext cx="782485" cy="864357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920AA6C-5AD0-4E31-B07A-E82E2359F3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650" y="516255"/>
            <a:ext cx="577964" cy="623190"/>
          </a:xfrm>
          <a:prstGeom prst="rect">
            <a:avLst/>
          </a:prstGeom>
        </p:spPr>
      </p:pic>
      <p:sp>
        <p:nvSpPr>
          <p:cNvPr id="3" name="name_3     -   Code Review">
            <a:extLst>
              <a:ext uri="{FF2B5EF4-FFF2-40B4-BE49-F238E27FC236}">
                <a16:creationId xmlns:a16="http://schemas.microsoft.com/office/drawing/2014/main" id="{A41E8B50-7BAB-08EA-4DCC-DE996C7B6122}"/>
              </a:ext>
            </a:extLst>
          </p:cNvPr>
          <p:cNvSpPr/>
          <p:nvPr/>
        </p:nvSpPr>
        <p:spPr>
          <a:xfrm>
            <a:off x="1962149" y="7377684"/>
            <a:ext cx="1403742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66"/>
              </a:lnSpc>
              <a:buNone/>
            </a:pPr>
            <a:r>
              <a:rPr lang="ru-RU" sz="2625" b="1" kern="0" spc="-75" dirty="0">
                <a:solidFill>
                  <a:srgbClr val="FF6600"/>
                </a:solidFill>
                <a:latin typeface="Stem Bold" pitchFamily="34" charset="0"/>
                <a:ea typeface="Stem Bold" pitchFamily="34" charset="-122"/>
                <a:cs typeface="Stem Bold" pitchFamily="34" charset="-120"/>
              </a:rPr>
              <a:t>НЕ решаем: Бизнес-решения / административные вопросы кампуса</a:t>
            </a:r>
            <a:endParaRPr lang="en-US" sz="2625" dirty="0">
              <a:solidFill>
                <a:srgbClr val="FF66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11830-015E-4CFF-DFA6-93C96E89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efault_name">
            <a:extLst>
              <a:ext uri="{FF2B5EF4-FFF2-40B4-BE49-F238E27FC236}">
                <a16:creationId xmlns:a16="http://schemas.microsoft.com/office/drawing/2014/main" id="{0A90E289-6831-82C3-60D2-0C14AB65FC6F}"/>
              </a:ext>
            </a:extLst>
          </p:cNvPr>
          <p:cNvSpPr/>
          <p:nvPr/>
        </p:nvSpPr>
        <p:spPr>
          <a:xfrm>
            <a:off x="1924050" y="438150"/>
            <a:ext cx="4791075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900" kern="0" spc="-75" dirty="0">
                <a:solidFill>
                  <a:srgbClr val="1D2633"/>
                </a:solidFill>
                <a:latin typeface="SB Sans Display Regular" pitchFamily="34" charset="0"/>
                <a:ea typeface="SB Sans Display Regular" pitchFamily="34" charset="-122"/>
                <a:cs typeface="SB Sans Display Regular" pitchFamily="34" charset="-120"/>
              </a:rPr>
              <a:t>
</a:t>
            </a:r>
            <a:endParaRPr lang="en-US" sz="39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E56EBC52-8AFA-4166-4B20-9256F10FB717}"/>
              </a:ext>
            </a:extLst>
          </p:cNvPr>
          <p:cNvSpPr/>
          <p:nvPr/>
        </p:nvSpPr>
        <p:spPr>
          <a:xfrm>
            <a:off x="1609725" y="561975"/>
            <a:ext cx="89725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ru-RU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//Канал связи</a:t>
            </a:r>
            <a:endParaRPr lang="en-US" sz="4200" dirty="0"/>
          </a:p>
        </p:txBody>
      </p:sp>
      <p:pic>
        <p:nvPicPr>
          <p:cNvPr id="2" name="плашка полный блюр">
            <a:extLst>
              <a:ext uri="{FF2B5EF4-FFF2-40B4-BE49-F238E27FC236}">
                <a16:creationId xmlns:a16="http://schemas.microsoft.com/office/drawing/2014/main" id="{070EB6BC-DA60-0751-35DC-2F96608C78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57039" y="2753073"/>
            <a:ext cx="13479013" cy="3557811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D17D57F4-DFDB-0F79-5DF5-A62984054109}"/>
              </a:ext>
            </a:extLst>
          </p:cNvPr>
          <p:cNvSpPr/>
          <p:nvPr/>
        </p:nvSpPr>
        <p:spPr>
          <a:xfrm>
            <a:off x="2451947" y="3498403"/>
            <a:ext cx="13184293" cy="25549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500"/>
              </a:spcAft>
              <a:buNone/>
            </a:pPr>
            <a:r>
              <a:rPr lang="en-US" sz="3400" kern="0" spc="-75" dirty="0">
                <a:solidFill>
                  <a:srgbClr val="FFFFFF"/>
                </a:solidFill>
                <a:latin typeface="Stem Light"/>
                <a:ea typeface="Stem Light"/>
                <a:cs typeface="Stem Light" pitchFamily="34" charset="-120"/>
              </a:rPr>
              <a:t>-R</a:t>
            </a:r>
            <a:r>
              <a:rPr lang="ru-RU" sz="3400" kern="0" spc="-75" dirty="0" err="1">
                <a:solidFill>
                  <a:srgbClr val="FFFFFF"/>
                </a:solidFill>
                <a:latin typeface="Stem Light"/>
                <a:ea typeface="Stem Light"/>
                <a:cs typeface="Stem Light" pitchFamily="34" charset="-120"/>
              </a:rPr>
              <a:t>ocket.Chat</a:t>
            </a:r>
            <a:r>
              <a:rPr lang="ru-RU" sz="3400" kern="0" spc="-75" dirty="0">
                <a:solidFill>
                  <a:srgbClr val="FFFFFF"/>
                </a:solidFill>
                <a:latin typeface="Stem Light"/>
                <a:ea typeface="Stem Light"/>
                <a:cs typeface="Stem Light" pitchFamily="34" charset="-120"/>
              </a:rPr>
              <a:t> → команда `/</a:t>
            </a:r>
            <a:r>
              <a:rPr lang="ru-RU" sz="3400" kern="0" spc="-75" dirty="0" err="1">
                <a:solidFill>
                  <a:srgbClr val="FFFFFF"/>
                </a:solidFill>
                <a:latin typeface="Stem Light"/>
                <a:ea typeface="Stem Light"/>
                <a:cs typeface="Stem Light" pitchFamily="34" charset="-120"/>
              </a:rPr>
              <a:t>report</a:t>
            </a:r>
            <a:r>
              <a:rPr lang="ru-RU" sz="3400" kern="0" spc="-75" dirty="0">
                <a:solidFill>
                  <a:srgbClr val="FFFFFF"/>
                </a:solidFill>
                <a:latin typeface="Stem Light"/>
                <a:ea typeface="Stem Light"/>
                <a:cs typeface="Stem Light" pitchFamily="34" charset="-120"/>
              </a:rPr>
              <a:t>` → автоматическая регистрация в </a:t>
            </a:r>
            <a:r>
              <a:rPr lang="ru-RU" sz="3400" kern="0" spc="-75" dirty="0" err="1">
                <a:solidFill>
                  <a:srgbClr val="FFFFFF"/>
                </a:solidFill>
                <a:latin typeface="Stem Light"/>
                <a:ea typeface="Stem Light"/>
                <a:cs typeface="Stem Light" pitchFamily="34" charset="-120"/>
              </a:rPr>
              <a:t>Jira</a:t>
            </a:r>
            <a:br>
              <a:rPr lang="en-US" sz="3400" kern="0" spc="-75" dirty="0">
                <a:solidFill>
                  <a:srgbClr val="FFFFFF"/>
                </a:solidFill>
                <a:latin typeface="Stem Light"/>
                <a:ea typeface="Stem Light"/>
                <a:cs typeface="Stem Light" pitchFamily="34" charset="-120"/>
              </a:rPr>
            </a:br>
            <a:r>
              <a:rPr lang="ru-RU" sz="3400" kern="0" spc="-75" dirty="0">
                <a:solidFill>
                  <a:srgbClr val="FFFFFF"/>
                </a:solidFill>
                <a:latin typeface="Stem Light"/>
                <a:ea typeface="Stem Light"/>
                <a:cs typeface="Stem Light" pitchFamily="34" charset="-120"/>
              </a:rPr>
              <a:t>- Все обращения фиксируются и отслеживаются</a:t>
            </a:r>
            <a:br>
              <a:rPr lang="ru-RU" sz="3400" kern="0" spc="-75" dirty="0">
                <a:solidFill>
                  <a:srgbClr val="FFFFFF"/>
                </a:solidFill>
                <a:latin typeface="Stem Light"/>
                <a:ea typeface="Stem Light"/>
                <a:cs typeface="Stem Light" pitchFamily="34" charset="-120"/>
              </a:rPr>
            </a:br>
            <a:r>
              <a:rPr lang="ru-RU" sz="3400" kern="0" spc="-75" dirty="0">
                <a:solidFill>
                  <a:srgbClr val="FFFFFF"/>
                </a:solidFill>
                <a:latin typeface="Stem Light"/>
                <a:ea typeface="Stem Light"/>
                <a:cs typeface="Stem Light" pitchFamily="34" charset="-120"/>
              </a:rPr>
              <a:t>- Не надо дублировать репорты(мы один из них удалим)</a:t>
            </a:r>
            <a:endParaRPr lang="en-US" sz="3400" dirty="0">
              <a:latin typeface="Stem Light"/>
              <a:ea typeface="Stem Light"/>
              <a:cs typeface="Calibri" panose="020F0502020204030204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653EA2-48CC-F8FE-5380-5D7478793433}"/>
              </a:ext>
            </a:extLst>
          </p:cNvPr>
          <p:cNvSpPr/>
          <p:nvPr/>
        </p:nvSpPr>
        <p:spPr>
          <a:xfrm>
            <a:off x="483687" y="390525"/>
            <a:ext cx="824760" cy="8140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oup 2043683003">
            <a:extLst>
              <a:ext uri="{FF2B5EF4-FFF2-40B4-BE49-F238E27FC236}">
                <a16:creationId xmlns:a16="http://schemas.microsoft.com/office/drawing/2014/main" id="{DB6681F0-EA7A-08CA-E8BC-6DAC8DFBEA0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072"/>
          <a:stretch/>
        </p:blipFill>
        <p:spPr>
          <a:xfrm>
            <a:off x="504825" y="1252903"/>
            <a:ext cx="782485" cy="86435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A1FC5FA-13AE-469F-BF52-07F5112A5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50" y="516255"/>
            <a:ext cx="577964" cy="623190"/>
          </a:xfrm>
          <a:prstGeom prst="rect">
            <a:avLst/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1762F9C1-7DC1-DA04-1DE6-9CAAC583B649}"/>
              </a:ext>
            </a:extLst>
          </p:cNvPr>
          <p:cNvSpPr/>
          <p:nvPr/>
        </p:nvSpPr>
        <p:spPr>
          <a:xfrm>
            <a:off x="13642848" y="2915426"/>
            <a:ext cx="484632" cy="42062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25C6AC10-1959-9945-EF1B-5AFC7586F6D2}"/>
              </a:ext>
            </a:extLst>
          </p:cNvPr>
          <p:cNvSpPr/>
          <p:nvPr/>
        </p:nvSpPr>
        <p:spPr>
          <a:xfrm>
            <a:off x="14238138" y="2915426"/>
            <a:ext cx="484632" cy="42062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C5955B97-77EC-EED4-7EDD-500C0A7AF8A4}"/>
              </a:ext>
            </a:extLst>
          </p:cNvPr>
          <p:cNvSpPr/>
          <p:nvPr/>
        </p:nvSpPr>
        <p:spPr>
          <a:xfrm>
            <a:off x="14833428" y="2911609"/>
            <a:ext cx="484632" cy="42062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83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angle 4047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22977" y="1655192"/>
            <a:ext cx="11795632" cy="2090291"/>
          </a:xfrm>
          <a:prstGeom prst="rect">
            <a:avLst/>
          </a:prstGeom>
        </p:spPr>
      </p:pic>
      <p:pic>
        <p:nvPicPr>
          <p:cNvPr id="46" name="Rectangle 40481" descr="preencoded.png">
            <a:extLst>
              <a:ext uri="{FF2B5EF4-FFF2-40B4-BE49-F238E27FC236}">
                <a16:creationId xmlns:a16="http://schemas.microsoft.com/office/drawing/2014/main" id="{59AEE166-D79F-590F-246D-0E76BDDBA9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540195" y="1686610"/>
            <a:ext cx="5861632" cy="2044820"/>
          </a:xfrm>
          <a:prstGeom prst="rect">
            <a:avLst/>
          </a:prstGeom>
        </p:spPr>
      </p:pic>
      <p:pic>
        <p:nvPicPr>
          <p:cNvPr id="4" name="Rectangle 4048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55892" y="3722117"/>
            <a:ext cx="4075807" cy="3023741"/>
          </a:xfrm>
          <a:prstGeom prst="rect">
            <a:avLst/>
          </a:prstGeom>
        </p:spPr>
      </p:pic>
      <p:pic>
        <p:nvPicPr>
          <p:cNvPr id="5" name="Rectangle 4048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1331699" y="3722117"/>
            <a:ext cx="5986909" cy="3023741"/>
          </a:xfrm>
          <a:prstGeom prst="rect">
            <a:avLst/>
          </a:prstGeom>
        </p:spPr>
      </p:pic>
      <p:pic>
        <p:nvPicPr>
          <p:cNvPr id="6" name="Rectangle 40482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113267" y="6722492"/>
            <a:ext cx="8205341" cy="2966591"/>
          </a:xfrm>
          <a:prstGeom prst="rect">
            <a:avLst/>
          </a:prstGeom>
        </p:spPr>
      </p:pic>
      <p:pic>
        <p:nvPicPr>
          <p:cNvPr id="8" name="Rectangle 4047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721867" y="3722117"/>
            <a:ext cx="5557391" cy="3023741"/>
          </a:xfrm>
          <a:prstGeom prst="rect">
            <a:avLst/>
          </a:prstGeom>
        </p:spPr>
      </p:pic>
      <p:pic>
        <p:nvPicPr>
          <p:cNvPr id="9" name="Rectangle 4048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721867" y="6722492"/>
            <a:ext cx="7414766" cy="2966591"/>
          </a:xfrm>
          <a:prstGeom prst="rect">
            <a:avLst/>
          </a:prstGeom>
        </p:spPr>
      </p:pic>
      <p:pic>
        <p:nvPicPr>
          <p:cNvPr id="10" name="Rectangle 4048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721867" y="1655192"/>
            <a:ext cx="3818328" cy="2090291"/>
          </a:xfrm>
          <a:prstGeom prst="rect">
            <a:avLst/>
          </a:prstGeom>
        </p:spPr>
      </p:pic>
      <p:pic>
        <p:nvPicPr>
          <p:cNvPr id="11" name="Group 2043682785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358085" y="1445642"/>
            <a:ext cx="759270" cy="759265"/>
          </a:xfrm>
          <a:prstGeom prst="rect">
            <a:avLst/>
          </a:prstGeom>
        </p:spPr>
      </p:pic>
      <p:pic>
        <p:nvPicPr>
          <p:cNvPr id="12" name="Group 2043682895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340867" y="3554611"/>
            <a:ext cx="759270" cy="759265"/>
          </a:xfrm>
          <a:prstGeom prst="rect">
            <a:avLst/>
          </a:prstGeom>
        </p:spPr>
      </p:pic>
      <p:pic>
        <p:nvPicPr>
          <p:cNvPr id="13" name="Group 2043683004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6884417" y="3554611"/>
            <a:ext cx="759270" cy="759265"/>
          </a:xfrm>
          <a:prstGeom prst="rect">
            <a:avLst/>
          </a:prstGeom>
        </p:spPr>
      </p:pic>
      <p:pic>
        <p:nvPicPr>
          <p:cNvPr id="14" name="Group 2043683005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10967270" y="3462473"/>
            <a:ext cx="759270" cy="759265"/>
          </a:xfrm>
          <a:prstGeom prst="rect">
            <a:avLst/>
          </a:prstGeom>
        </p:spPr>
      </p:pic>
      <p:pic>
        <p:nvPicPr>
          <p:cNvPr id="15" name="Group 2043683006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8741792" y="6351017"/>
            <a:ext cx="759270" cy="759265"/>
          </a:xfrm>
          <a:prstGeom prst="rect">
            <a:avLst/>
          </a:prstGeom>
        </p:spPr>
      </p:pic>
      <p:pic>
        <p:nvPicPr>
          <p:cNvPr id="16" name="Group 2043683007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369442" y="6351017"/>
            <a:ext cx="759270" cy="759265"/>
          </a:xfrm>
          <a:prstGeom prst="rect">
            <a:avLst/>
          </a:prstGeom>
        </p:spPr>
      </p:pic>
      <p:pic>
        <p:nvPicPr>
          <p:cNvPr id="17" name="Group 2043682891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5215482" y="1321714"/>
            <a:ext cx="759270" cy="759265"/>
          </a:xfrm>
          <a:prstGeom prst="rect">
            <a:avLst/>
          </a:prstGeom>
        </p:spPr>
      </p:pic>
      <p:pic>
        <p:nvPicPr>
          <p:cNvPr id="18" name="Frame 2043682957" descr="preencoded.png"/>
          <p:cNvPicPr>
            <a:picLocks noChangeAspect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1250" y="2209800"/>
            <a:ext cx="2401062" cy="988563"/>
          </a:xfrm>
          <a:prstGeom prst="rect">
            <a:avLst/>
          </a:prstGeom>
        </p:spPr>
      </p:pic>
      <p:pic>
        <p:nvPicPr>
          <p:cNvPr id="19" name="Frame 2043682958" descr="preencoded.png"/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744270" y="2202508"/>
            <a:ext cx="2915976" cy="988563"/>
          </a:xfrm>
          <a:prstGeom prst="rect">
            <a:avLst/>
          </a:prstGeom>
        </p:spPr>
      </p:pic>
      <p:pic>
        <p:nvPicPr>
          <p:cNvPr id="20" name="Frame 2043682959" descr="preencoded.png"/>
          <p:cNvPicPr>
            <a:picLocks noChangeAspect="1"/>
          </p:cNvPicPr>
          <p:nvPr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1250" y="4305300"/>
            <a:ext cx="4188963" cy="1874388"/>
          </a:xfrm>
          <a:prstGeom prst="rect">
            <a:avLst/>
          </a:prstGeom>
        </p:spPr>
      </p:pic>
      <p:pic>
        <p:nvPicPr>
          <p:cNvPr id="21" name="Frame 2043682962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2381250" y="7267575"/>
            <a:ext cx="6113013" cy="1874388"/>
          </a:xfrm>
          <a:prstGeom prst="rect">
            <a:avLst/>
          </a:prstGeom>
        </p:spPr>
      </p:pic>
      <p:pic>
        <p:nvPicPr>
          <p:cNvPr id="22" name="Frame 2043682963" descr="preencoded.png"/>
          <p:cNvPicPr>
            <a:picLocks noChangeAspect="1"/>
          </p:cNvPicPr>
          <p:nvPr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34550" y="7267576"/>
            <a:ext cx="6960738" cy="1884806"/>
          </a:xfrm>
          <a:prstGeom prst="rect">
            <a:avLst/>
          </a:prstGeom>
        </p:spPr>
      </p:pic>
      <p:pic>
        <p:nvPicPr>
          <p:cNvPr id="23" name="Frame 2043682961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11759311" y="4305300"/>
            <a:ext cx="4726428" cy="1870072"/>
          </a:xfrm>
          <a:prstGeom prst="rect">
            <a:avLst/>
          </a:prstGeom>
        </p:spPr>
      </p:pic>
      <p:pic>
        <p:nvPicPr>
          <p:cNvPr id="24" name="Frame 2043682960" descr="preencoded.png"/>
          <p:cNvPicPr>
            <a:picLocks noChangeAspect="1"/>
          </p:cNvPicPr>
          <p:nvPr/>
        </p:nvPicPr>
        <p:blipFill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43850" y="4305300"/>
            <a:ext cx="2960238" cy="1874388"/>
          </a:xfrm>
          <a:prstGeom prst="rect">
            <a:avLst/>
          </a:prstGeom>
        </p:spPr>
      </p:pic>
      <p:sp>
        <p:nvSpPr>
          <p:cNvPr id="26" name="default_name"/>
          <p:cNvSpPr/>
          <p:nvPr/>
        </p:nvSpPr>
        <p:spPr>
          <a:xfrm>
            <a:off x="1609725" y="561975"/>
            <a:ext cx="527469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//</a:t>
            </a:r>
            <a:r>
              <a:rPr lang="ru-RU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  Процесс обработки</a:t>
            </a:r>
            <a:endParaRPr lang="en-US" sz="4200" dirty="0"/>
          </a:p>
        </p:txBody>
      </p:sp>
      <p:sp>
        <p:nvSpPr>
          <p:cNvPr id="27" name="15     11"/>
          <p:cNvSpPr/>
          <p:nvPr/>
        </p:nvSpPr>
        <p:spPr>
          <a:xfrm>
            <a:off x="2432619" y="2261164"/>
            <a:ext cx="69818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5"/>
              </a:lnSpc>
              <a:buNone/>
            </a:pPr>
            <a:endParaRPr lang="en-US" sz="1875" dirty="0"/>
          </a:p>
        </p:txBody>
      </p:sp>
      <p:sp>
        <p:nvSpPr>
          <p:cNvPr id="28" name="name_1"/>
          <p:cNvSpPr/>
          <p:nvPr/>
        </p:nvSpPr>
        <p:spPr>
          <a:xfrm>
            <a:off x="10757469" y="2261164"/>
            <a:ext cx="589597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5"/>
              </a:lnSpc>
              <a:buNone/>
            </a:pPr>
            <a:endParaRPr lang="en-US" sz="1875" dirty="0"/>
          </a:p>
        </p:txBody>
      </p:sp>
      <p:sp>
        <p:nvSpPr>
          <p:cNvPr id="29" name="name_65  PR-       -"/>
          <p:cNvSpPr/>
          <p:nvPr/>
        </p:nvSpPr>
        <p:spPr>
          <a:xfrm>
            <a:off x="2432619" y="4356664"/>
            <a:ext cx="411480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5"/>
              </a:lnSpc>
              <a:buNone/>
            </a:pPr>
            <a:endParaRPr lang="en-US" sz="1875" dirty="0"/>
          </a:p>
        </p:txBody>
      </p:sp>
      <p:sp>
        <p:nvSpPr>
          <p:cNvPr id="30" name="-  -"/>
          <p:cNvSpPr/>
          <p:nvPr/>
        </p:nvSpPr>
        <p:spPr>
          <a:xfrm>
            <a:off x="2432619" y="7318939"/>
            <a:ext cx="603885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5"/>
              </a:lnSpc>
              <a:buNone/>
            </a:pPr>
            <a:endParaRPr lang="en-US" sz="1875" dirty="0"/>
          </a:p>
        </p:txBody>
      </p:sp>
      <p:sp>
        <p:nvSpPr>
          <p:cNvPr id="33" name="name_100"/>
          <p:cNvSpPr/>
          <p:nvPr/>
        </p:nvSpPr>
        <p:spPr>
          <a:xfrm>
            <a:off x="7995219" y="4356664"/>
            <a:ext cx="288607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5"/>
              </a:lnSpc>
              <a:buNone/>
            </a:pPr>
            <a:endParaRPr lang="en-US" sz="1875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BDFE070-62A5-FCA7-F746-B283371271F0}"/>
              </a:ext>
            </a:extLst>
          </p:cNvPr>
          <p:cNvSpPr/>
          <p:nvPr/>
        </p:nvSpPr>
        <p:spPr>
          <a:xfrm>
            <a:off x="483687" y="390525"/>
            <a:ext cx="824760" cy="8140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oup 2043683003">
            <a:extLst>
              <a:ext uri="{FF2B5EF4-FFF2-40B4-BE49-F238E27FC236}">
                <a16:creationId xmlns:a16="http://schemas.microsoft.com/office/drawing/2014/main" id="{93B80E9D-3DBA-C580-D2B0-911D8686A4C7}"/>
              </a:ext>
            </a:extLst>
          </p:cNvPr>
          <p:cNvPicPr>
            <a:picLocks noChangeAspect="1"/>
          </p:cNvPicPr>
          <p:nvPr/>
        </p:nvPicPr>
        <p:blipFill rotWithShape="1"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072"/>
          <a:stretch/>
        </p:blipFill>
        <p:spPr>
          <a:xfrm>
            <a:off x="504825" y="1252903"/>
            <a:ext cx="782485" cy="864357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BD995C8-4C02-4E92-8B86-D2FBBAB5F6FC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04650" y="516255"/>
            <a:ext cx="577964" cy="62319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D6729A-6CA8-5C72-A04E-748FA2BEA632}"/>
              </a:ext>
            </a:extLst>
          </p:cNvPr>
          <p:cNvSpPr txBox="1"/>
          <p:nvPr/>
        </p:nvSpPr>
        <p:spPr>
          <a:xfrm>
            <a:off x="2783012" y="2418892"/>
            <a:ext cx="2169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Студент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2E3C83-EF97-043D-0C0C-28DF4053F986}"/>
              </a:ext>
            </a:extLst>
          </p:cNvPr>
          <p:cNvSpPr txBox="1"/>
          <p:nvPr/>
        </p:nvSpPr>
        <p:spPr>
          <a:xfrm>
            <a:off x="13090527" y="2503989"/>
            <a:ext cx="2339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/report </a:t>
            </a:r>
            <a:r>
              <a:rPr lang="ru-RU" dirty="0"/>
              <a:t>в </a:t>
            </a:r>
            <a:r>
              <a:rPr lang="en-US" dirty="0" err="1"/>
              <a:t>Rocket.Chat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528033-7B1A-89C0-8CB3-938B39ABCE05}"/>
              </a:ext>
            </a:extLst>
          </p:cNvPr>
          <p:cNvSpPr txBox="1"/>
          <p:nvPr/>
        </p:nvSpPr>
        <p:spPr>
          <a:xfrm>
            <a:off x="2677947" y="4422830"/>
            <a:ext cx="35777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Автоматическое создание </a:t>
            </a:r>
            <a:r>
              <a:rPr lang="en-US" sz="3200" dirty="0"/>
              <a:t>Jira </a:t>
            </a:r>
            <a:r>
              <a:rPr lang="ru-RU" sz="3200" dirty="0" err="1"/>
              <a:t>тикета</a:t>
            </a:r>
            <a:endParaRPr lang="ru-RU" sz="3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016139-8D29-47C5-EF02-FBE8EEDDF6B9}"/>
              </a:ext>
            </a:extLst>
          </p:cNvPr>
          <p:cNvSpPr txBox="1"/>
          <p:nvPr/>
        </p:nvSpPr>
        <p:spPr>
          <a:xfrm>
            <a:off x="8033179" y="4500720"/>
            <a:ext cx="25212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Попадает в очередь техподдержки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E07E2-7F47-7553-D120-24ABB0F94FFC}"/>
              </a:ext>
            </a:extLst>
          </p:cNvPr>
          <p:cNvSpPr txBox="1"/>
          <p:nvPr/>
        </p:nvSpPr>
        <p:spPr>
          <a:xfrm>
            <a:off x="11996291" y="4326975"/>
            <a:ext cx="42175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Простая проблема (70%) </a:t>
            </a:r>
            <a:br>
              <a:rPr lang="en-US" dirty="0"/>
            </a:br>
            <a:r>
              <a:rPr lang="ru-RU" dirty="0"/>
              <a:t>Решаем сразу (5-30 мин)</a:t>
            </a:r>
            <a:br>
              <a:rPr lang="en-US" dirty="0"/>
            </a:br>
            <a:r>
              <a:rPr lang="ru-RU" dirty="0"/>
              <a:t>Средняя сложность (20%) </a:t>
            </a:r>
            <a:endParaRPr lang="en-US" dirty="0"/>
          </a:p>
          <a:p>
            <a:r>
              <a:rPr lang="ru-RU" dirty="0"/>
              <a:t>Проверка логов 1-4 часа</a:t>
            </a:r>
            <a:endParaRPr lang="en-US" dirty="0"/>
          </a:p>
          <a:p>
            <a:r>
              <a:rPr lang="ru-RU" dirty="0"/>
              <a:t>Эскалация(10%)</a:t>
            </a:r>
            <a:r>
              <a:rPr lang="en-US" dirty="0"/>
              <a:t> DevOps/Backend/Admins24-48 </a:t>
            </a:r>
            <a:r>
              <a:rPr lang="ru-RU" dirty="0"/>
              <a:t>часов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744FCD-C71D-B1A3-BDC5-7DA3E81E9996}"/>
              </a:ext>
            </a:extLst>
          </p:cNvPr>
          <p:cNvSpPr txBox="1"/>
          <p:nvPr/>
        </p:nvSpPr>
        <p:spPr>
          <a:xfrm>
            <a:off x="2476316" y="7559970"/>
            <a:ext cx="58223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/>
              <a:t>Решение</a:t>
            </a:r>
            <a:br>
              <a:rPr lang="ru-RU" sz="4000" dirty="0"/>
            </a:br>
            <a:r>
              <a:rPr lang="ru-RU" sz="4000" dirty="0"/>
              <a:t>Закрытие </a:t>
            </a:r>
            <a:r>
              <a:rPr lang="ru-RU" sz="4000" dirty="0" err="1"/>
              <a:t>тикета</a:t>
            </a:r>
            <a:endParaRPr lang="ru-RU" sz="4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EBAC47-C58A-004C-7E04-3BE6080C5B37}"/>
              </a:ext>
            </a:extLst>
          </p:cNvPr>
          <p:cNvSpPr txBox="1"/>
          <p:nvPr/>
        </p:nvSpPr>
        <p:spPr>
          <a:xfrm>
            <a:off x="10008857" y="7479385"/>
            <a:ext cx="32765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/>
              <a:t>Уведомление студента</a:t>
            </a:r>
          </a:p>
        </p:txBody>
      </p:sp>
      <p:pic>
        <p:nvPicPr>
          <p:cNvPr id="47" name="Frame 2043682958" descr="preencoded.png">
            <a:extLst>
              <a:ext uri="{FF2B5EF4-FFF2-40B4-BE49-F238E27FC236}">
                <a16:creationId xmlns:a16="http://schemas.microsoft.com/office/drawing/2014/main" id="{7D119D8A-CD0A-0772-43A9-55E69CE16630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79689" y="2145895"/>
            <a:ext cx="4457640" cy="104624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411D742-6F65-4C6B-910B-EE344A402BCE}"/>
              </a:ext>
            </a:extLst>
          </p:cNvPr>
          <p:cNvSpPr txBox="1"/>
          <p:nvPr/>
        </p:nvSpPr>
        <p:spPr>
          <a:xfrm>
            <a:off x="6444554" y="2195981"/>
            <a:ext cx="33904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Спросить соседа справа/слева-&gt;</a:t>
            </a:r>
            <a:br>
              <a:rPr lang="ru-RU" dirty="0"/>
            </a:br>
            <a:r>
              <a:rPr lang="ru-RU" dirty="0"/>
              <a:t>поискать в интернете -&gt; </a:t>
            </a:r>
            <a:br>
              <a:rPr lang="ru-RU" dirty="0"/>
            </a:br>
            <a:r>
              <a:rPr lang="ru-RU" dirty="0"/>
              <a:t>спросить у высших сил(ИИ)</a:t>
            </a:r>
          </a:p>
        </p:txBody>
      </p:sp>
      <p:pic>
        <p:nvPicPr>
          <p:cNvPr id="55" name="Picture 17">
            <a:extLst>
              <a:ext uri="{FF2B5EF4-FFF2-40B4-BE49-F238E27FC236}">
                <a16:creationId xmlns:a16="http://schemas.microsoft.com/office/drawing/2014/main" id="{6171D06B-7284-99E4-8EE9-E60377A2C22E}"/>
              </a:ext>
            </a:extLst>
          </p:cNvPr>
          <p:cNvPicPr>
            <a:picLocks noChangeAspect="1"/>
          </p:cNvPicPr>
          <p:nvPr/>
        </p:nvPicPr>
        <p:blipFill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6804" y="1797490"/>
            <a:ext cx="680746" cy="767949"/>
          </a:xfrm>
          <a:prstGeom prst="rect">
            <a:avLst/>
          </a:prstGeom>
        </p:spPr>
      </p:pic>
      <p:pic>
        <p:nvPicPr>
          <p:cNvPr id="56" name="Picture 14">
            <a:extLst>
              <a:ext uri="{FF2B5EF4-FFF2-40B4-BE49-F238E27FC236}">
                <a16:creationId xmlns:a16="http://schemas.microsoft.com/office/drawing/2014/main" id="{338C1644-9BEC-3002-538D-47CC22916695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11859" y="2035609"/>
            <a:ext cx="1813171" cy="1541196"/>
          </a:xfrm>
          <a:prstGeom prst="rect">
            <a:avLst/>
          </a:prstGeom>
        </p:spPr>
      </p:pic>
      <p:pic>
        <p:nvPicPr>
          <p:cNvPr id="57" name="Mask group" descr="preencoded.png">
            <a:extLst>
              <a:ext uri="{FF2B5EF4-FFF2-40B4-BE49-F238E27FC236}">
                <a16:creationId xmlns:a16="http://schemas.microsoft.com/office/drawing/2014/main" id="{1F56871E-49DE-7B41-9D6F-64913317A50D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14880311" y="2386382"/>
            <a:ext cx="1562554" cy="1388883"/>
          </a:xfrm>
          <a:prstGeom prst="rect">
            <a:avLst/>
          </a:prstGeom>
        </p:spPr>
      </p:pic>
      <p:pic>
        <p:nvPicPr>
          <p:cNvPr id="58" name="Picture 10">
            <a:extLst>
              <a:ext uri="{FF2B5EF4-FFF2-40B4-BE49-F238E27FC236}">
                <a16:creationId xmlns:a16="http://schemas.microsoft.com/office/drawing/2014/main" id="{FD665F8B-B36B-6368-098A-25553B04FF2C}"/>
              </a:ext>
            </a:extLst>
          </p:cNvPr>
          <p:cNvPicPr>
            <a:picLocks noChangeAspect="1"/>
          </p:cNvPicPr>
          <p:nvPr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81622" y="3888329"/>
            <a:ext cx="1517495" cy="1567201"/>
          </a:xfrm>
          <a:prstGeom prst="rect">
            <a:avLst/>
          </a:prstGeom>
        </p:spPr>
      </p:pic>
      <p:pic>
        <p:nvPicPr>
          <p:cNvPr id="59" name="Picture 19">
            <a:extLst>
              <a:ext uri="{FF2B5EF4-FFF2-40B4-BE49-F238E27FC236}">
                <a16:creationId xmlns:a16="http://schemas.microsoft.com/office/drawing/2014/main" id="{BE4539A6-2FEC-6746-E3D0-F4F0C306C2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890057" y="6868781"/>
            <a:ext cx="2763387" cy="2705816"/>
          </a:xfrm>
          <a:prstGeom prst="rect">
            <a:avLst/>
          </a:prstGeom>
        </p:spPr>
      </p:pic>
      <p:pic>
        <p:nvPicPr>
          <p:cNvPr id="60" name="Picture 19">
            <a:extLst>
              <a:ext uri="{FF2B5EF4-FFF2-40B4-BE49-F238E27FC236}">
                <a16:creationId xmlns:a16="http://schemas.microsoft.com/office/drawing/2014/main" id="{D2DA236A-4476-9A89-8A39-BE2A0DED8D2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043046" y="6851856"/>
            <a:ext cx="2763387" cy="2705816"/>
          </a:xfrm>
          <a:prstGeom prst="rect">
            <a:avLst/>
          </a:prstGeom>
        </p:spPr>
      </p:pic>
      <p:pic>
        <p:nvPicPr>
          <p:cNvPr id="61" name="Picture 21">
            <a:extLst>
              <a:ext uri="{FF2B5EF4-FFF2-40B4-BE49-F238E27FC236}">
                <a16:creationId xmlns:a16="http://schemas.microsoft.com/office/drawing/2014/main" id="{5C7F4BC9-16CF-49D2-B6B4-6F72C6FFC4D2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033634" y="4292515"/>
            <a:ext cx="1143000" cy="1143000"/>
          </a:xfrm>
          <a:prstGeom prst="rect">
            <a:avLst/>
          </a:prstGeom>
        </p:spPr>
      </p:pic>
      <p:pic>
        <p:nvPicPr>
          <p:cNvPr id="62" name="stiker_05" descr="preencoded.png">
            <a:extLst>
              <a:ext uri="{FF2B5EF4-FFF2-40B4-BE49-F238E27FC236}">
                <a16:creationId xmlns:a16="http://schemas.microsoft.com/office/drawing/2014/main" id="{A7CDA693-957D-AFCC-8C10-9FDEE057D952}"/>
              </a:ext>
            </a:extLst>
          </p:cNvPr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4992771" y="4500720"/>
            <a:ext cx="2337701" cy="23377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Frame 2043682942" descr="preencoded.png">
            <a:extLst>
              <a:ext uri="{FF2B5EF4-FFF2-40B4-BE49-F238E27FC236}">
                <a16:creationId xmlns:a16="http://schemas.microsoft.com/office/drawing/2014/main" id="{8C498B09-4823-5AEB-6C5C-C1973DD48F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499" y="5010150"/>
            <a:ext cx="13306425" cy="1185862"/>
          </a:xfrm>
          <a:prstGeom prst="rect">
            <a:avLst/>
          </a:prstGeom>
        </p:spPr>
      </p:pic>
      <p:pic>
        <p:nvPicPr>
          <p:cNvPr id="4" name="Frame 2043682943" descr="preencoded.png">
            <a:extLst>
              <a:ext uri="{FF2B5EF4-FFF2-40B4-BE49-F238E27FC236}">
                <a16:creationId xmlns:a16="http://schemas.microsoft.com/office/drawing/2014/main" id="{965580D4-C908-9101-05A9-36D4881723F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500" y="7591425"/>
            <a:ext cx="13306425" cy="2319337"/>
          </a:xfrm>
          <a:prstGeom prst="rect">
            <a:avLst/>
          </a:prstGeom>
        </p:spPr>
      </p:pic>
      <p:pic>
        <p:nvPicPr>
          <p:cNvPr id="5" name="Frame 2043682941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500" y="2057400"/>
            <a:ext cx="13306425" cy="1200150"/>
          </a:xfrm>
          <a:prstGeom prst="rect">
            <a:avLst/>
          </a:prstGeom>
        </p:spPr>
      </p:pic>
      <p:pic>
        <p:nvPicPr>
          <p:cNvPr id="6" name="Frame 2043682942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500" y="3438525"/>
            <a:ext cx="13306425" cy="1200150"/>
          </a:xfrm>
          <a:prstGeom prst="rect">
            <a:avLst/>
          </a:prstGeom>
        </p:spPr>
      </p:pic>
      <p:pic>
        <p:nvPicPr>
          <p:cNvPr id="8" name="Frame 2043682944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500" y="6610350"/>
            <a:ext cx="13306425" cy="790575"/>
          </a:xfrm>
          <a:prstGeom prst="rect">
            <a:avLst/>
          </a:prstGeom>
        </p:spPr>
      </p:pic>
      <p:pic>
        <p:nvPicPr>
          <p:cNvPr id="10" name="Frame 2043682941" descr="preencoded.pn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7850" y="2247900"/>
            <a:ext cx="904875" cy="790575"/>
          </a:xfrm>
          <a:prstGeom prst="rect">
            <a:avLst/>
          </a:prstGeom>
        </p:spPr>
      </p:pic>
      <p:pic>
        <p:nvPicPr>
          <p:cNvPr id="11" name="Frame 2043682945" descr="preencoded.png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7850" y="3629025"/>
            <a:ext cx="971550" cy="790575"/>
          </a:xfrm>
          <a:prstGeom prst="rect">
            <a:avLst/>
          </a:prstGeom>
        </p:spPr>
      </p:pic>
      <p:pic>
        <p:nvPicPr>
          <p:cNvPr id="12" name="Frame 2043682946" descr="preencoded.png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7850" y="5114925"/>
            <a:ext cx="971550" cy="790575"/>
          </a:xfrm>
          <a:prstGeom prst="rect">
            <a:avLst/>
          </a:prstGeom>
        </p:spPr>
      </p:pic>
      <p:pic>
        <p:nvPicPr>
          <p:cNvPr id="13" name="Frame 2043682947" descr="preencoded.png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7850" y="6610350"/>
            <a:ext cx="990600" cy="790575"/>
          </a:xfrm>
          <a:prstGeom prst="rect">
            <a:avLst/>
          </a:prstGeom>
        </p:spPr>
      </p:pic>
      <p:pic>
        <p:nvPicPr>
          <p:cNvPr id="14" name="Frame 2043682948" descr="preencoded.png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3230" y="8096250"/>
            <a:ext cx="971550" cy="790575"/>
          </a:xfrm>
          <a:prstGeom prst="rect">
            <a:avLst/>
          </a:prstGeom>
        </p:spPr>
      </p:pic>
      <p:sp>
        <p:nvSpPr>
          <p:cNvPr id="17" name="default_name"/>
          <p:cNvSpPr/>
          <p:nvPr/>
        </p:nvSpPr>
        <p:spPr>
          <a:xfrm>
            <a:off x="1924050" y="438150"/>
            <a:ext cx="4791075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900" kern="0" spc="-75" dirty="0">
                <a:solidFill>
                  <a:srgbClr val="1D2633"/>
                </a:solidFill>
                <a:latin typeface="SB Sans Display Regular" pitchFamily="34" charset="0"/>
                <a:ea typeface="SB Sans Display Regular" pitchFamily="34" charset="-122"/>
                <a:cs typeface="SB Sans Display Regular" pitchFamily="34" charset="-120"/>
              </a:rPr>
              <a:t>
</a:t>
            </a:r>
            <a:endParaRPr lang="en-US" sz="3900" dirty="0"/>
          </a:p>
        </p:txBody>
      </p:sp>
      <p:sp>
        <p:nvSpPr>
          <p:cNvPr id="18" name="21"/>
          <p:cNvSpPr/>
          <p:nvPr/>
        </p:nvSpPr>
        <p:spPr>
          <a:xfrm>
            <a:off x="3619500" y="2247900"/>
            <a:ext cx="127444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ru-RU" sz="2700" kern="0" spc="-75" dirty="0">
                <a:solidFill>
                  <a:srgbClr val="FFFFF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Конкретика: не "не работает", а "зависает на экране входа"</a:t>
            </a:r>
            <a:endParaRPr lang="en-US" sz="2700" dirty="0"/>
          </a:p>
        </p:txBody>
      </p:sp>
      <p:sp>
        <p:nvSpPr>
          <p:cNvPr id="19" name="Text 3"/>
          <p:cNvSpPr/>
          <p:nvPr/>
        </p:nvSpPr>
        <p:spPr>
          <a:xfrm>
            <a:off x="3619500" y="3629025"/>
            <a:ext cx="11525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ru-RU" sz="2700" kern="0" spc="-75" dirty="0">
                <a:solidFill>
                  <a:srgbClr val="FFFFF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Контекст: когда случилось, что делали перед этим</a:t>
            </a:r>
            <a:endParaRPr lang="en-US" sz="2700" dirty="0"/>
          </a:p>
        </p:txBody>
      </p:sp>
      <p:sp>
        <p:nvSpPr>
          <p:cNvPr id="20" name="Text 4"/>
          <p:cNvSpPr/>
          <p:nvPr/>
        </p:nvSpPr>
        <p:spPr>
          <a:xfrm>
            <a:off x="3619500" y="5229225"/>
            <a:ext cx="1267777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ru-RU" sz="2700" kern="0" spc="-75" dirty="0">
                <a:solidFill>
                  <a:srgbClr val="FFFFF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 Скриншоты</a:t>
            </a:r>
            <a:r>
              <a:rPr lang="en-US" sz="2700" kern="0" spc="-75" dirty="0">
                <a:solidFill>
                  <a:srgbClr val="FFFFF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/</a:t>
            </a:r>
            <a:r>
              <a:rPr lang="en-US" sz="2700" kern="0" spc="-75" dirty="0" err="1">
                <a:solidFill>
                  <a:srgbClr val="FFFFF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har</a:t>
            </a:r>
            <a:r>
              <a:rPr lang="ru-RU" sz="2700" kern="0" spc="-75" dirty="0">
                <a:solidFill>
                  <a:srgbClr val="FFFFF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: особенно для ошибок интерфейса, проблем с платформой</a:t>
            </a:r>
            <a:endParaRPr lang="en-US" sz="2700" dirty="0"/>
          </a:p>
        </p:txBody>
      </p:sp>
      <p:sp>
        <p:nvSpPr>
          <p:cNvPr id="21" name="time to market"/>
          <p:cNvSpPr/>
          <p:nvPr/>
        </p:nvSpPr>
        <p:spPr>
          <a:xfrm>
            <a:off x="3619500" y="6800850"/>
            <a:ext cx="109061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ru-RU" sz="2700" kern="0" spc="-75" dirty="0">
                <a:solidFill>
                  <a:srgbClr val="FFFFF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Номер компьютера/кластер: для проблем с оборудованием(</a:t>
            </a:r>
            <a:r>
              <a:rPr lang="en-US" sz="2700" kern="0" spc="-75" dirty="0">
                <a:solidFill>
                  <a:srgbClr val="FFFFF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an-a1)</a:t>
            </a:r>
            <a:endParaRPr lang="en-US" sz="2700" dirty="0"/>
          </a:p>
        </p:txBody>
      </p:sp>
      <p:sp>
        <p:nvSpPr>
          <p:cNvPr id="22" name="Fast Track"/>
          <p:cNvSpPr/>
          <p:nvPr/>
        </p:nvSpPr>
        <p:spPr>
          <a:xfrm>
            <a:off x="3619500" y="7781925"/>
            <a:ext cx="9677400" cy="181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ru-RU" sz="2800" dirty="0">
                <a:solidFill>
                  <a:srgbClr val="E06C75"/>
                </a:solidFill>
                <a:effectLst/>
              </a:rPr>
              <a:t>❌ ЧТО ЗАМЕДЛЯЕТ:</a:t>
            </a:r>
            <a:r>
              <a:rPr lang="ru-RU" sz="2800" dirty="0"/>
              <a:t>  </a:t>
            </a:r>
            <a:br>
              <a:rPr lang="en-US" sz="2800" dirty="0"/>
            </a:br>
            <a:r>
              <a:rPr lang="ru-RU" sz="2800" dirty="0">
                <a:solidFill>
                  <a:schemeClr val="bg1">
                    <a:lumMod val="95000"/>
                  </a:schemeClr>
                </a:solidFill>
              </a:rPr>
              <a:t>"не работает помогите“</a:t>
            </a:r>
            <a:br>
              <a:rPr lang="en-US" sz="28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ru-RU" sz="2800" dirty="0">
                <a:solidFill>
                  <a:schemeClr val="bg1">
                    <a:lumMod val="95000"/>
                  </a:schemeClr>
                </a:solidFill>
              </a:rPr>
              <a:t> "всё сломалось" </a:t>
            </a:r>
            <a:br>
              <a:rPr lang="en-US" sz="28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ru-RU" sz="2800" dirty="0">
                <a:solidFill>
                  <a:schemeClr val="bg1">
                    <a:lumMod val="95000"/>
                  </a:schemeClr>
                </a:solidFill>
              </a:rPr>
              <a:t>"как обычно ничего не работает"</a:t>
            </a:r>
            <a:endParaRPr lang="en-US" sz="2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name_1"/>
          <p:cNvSpPr/>
          <p:nvPr/>
        </p:nvSpPr>
        <p:spPr>
          <a:xfrm>
            <a:off x="2228850" y="2438400"/>
            <a:ext cx="1714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kern="0" spc="-75" dirty="0">
                <a:solidFill>
                  <a:srgbClr val="00FFA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1</a:t>
            </a:r>
            <a:endParaRPr lang="en-US" sz="2700" dirty="0"/>
          </a:p>
        </p:txBody>
      </p:sp>
      <p:sp>
        <p:nvSpPr>
          <p:cNvPr id="24" name="name_2"/>
          <p:cNvSpPr/>
          <p:nvPr/>
        </p:nvSpPr>
        <p:spPr>
          <a:xfrm>
            <a:off x="2228850" y="3819525"/>
            <a:ext cx="2381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kern="0" spc="-75" dirty="0">
                <a:solidFill>
                  <a:srgbClr val="00FFA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2</a:t>
            </a:r>
            <a:endParaRPr lang="en-US" sz="2700" dirty="0"/>
          </a:p>
        </p:txBody>
      </p:sp>
      <p:sp>
        <p:nvSpPr>
          <p:cNvPr id="25" name="name_3"/>
          <p:cNvSpPr/>
          <p:nvPr/>
        </p:nvSpPr>
        <p:spPr>
          <a:xfrm>
            <a:off x="2228850" y="5305425"/>
            <a:ext cx="2381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kern="0" spc="-75" dirty="0">
                <a:solidFill>
                  <a:srgbClr val="00FFA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3</a:t>
            </a:r>
            <a:endParaRPr lang="en-US" sz="2700" dirty="0"/>
          </a:p>
        </p:txBody>
      </p:sp>
      <p:sp>
        <p:nvSpPr>
          <p:cNvPr id="26" name="name_4"/>
          <p:cNvSpPr/>
          <p:nvPr/>
        </p:nvSpPr>
        <p:spPr>
          <a:xfrm>
            <a:off x="2228850" y="6800850"/>
            <a:ext cx="2571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kern="0" spc="-75" dirty="0">
                <a:solidFill>
                  <a:srgbClr val="00FFA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4</a:t>
            </a:r>
            <a:endParaRPr lang="en-US" sz="2700" dirty="0"/>
          </a:p>
        </p:txBody>
      </p:sp>
      <p:sp>
        <p:nvSpPr>
          <p:cNvPr id="27" name="name_5"/>
          <p:cNvSpPr/>
          <p:nvPr/>
        </p:nvSpPr>
        <p:spPr>
          <a:xfrm>
            <a:off x="2228850" y="8277415"/>
            <a:ext cx="2381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kern="0" spc="-75" dirty="0">
                <a:solidFill>
                  <a:srgbClr val="00FFAF"/>
                </a:solidFill>
                <a:latin typeface="Stem Light" pitchFamily="34" charset="0"/>
                <a:ea typeface="Stem Light" pitchFamily="34" charset="-122"/>
                <a:cs typeface="Stem Light" pitchFamily="34" charset="-120"/>
              </a:rPr>
              <a:t>5</a:t>
            </a:r>
            <a:endParaRPr lang="en-US" sz="27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4FFA3319-021D-3B56-9748-03DD0AB430CF}"/>
              </a:ext>
            </a:extLst>
          </p:cNvPr>
          <p:cNvSpPr/>
          <p:nvPr/>
        </p:nvSpPr>
        <p:spPr>
          <a:xfrm>
            <a:off x="1609725" y="561975"/>
            <a:ext cx="89725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//</a:t>
            </a:r>
            <a:r>
              <a:rPr lang="ru-RU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 ЧТО ПОМОГАЕТ</a:t>
            </a:r>
            <a:endParaRPr lang="en-US" sz="4200" dirty="0"/>
          </a:p>
        </p:txBody>
      </p:sp>
      <p:sp>
        <p:nvSpPr>
          <p:cNvPr id="29" name="name_5">
            <a:extLst>
              <a:ext uri="{FF2B5EF4-FFF2-40B4-BE49-F238E27FC236}">
                <a16:creationId xmlns:a16="http://schemas.microsoft.com/office/drawing/2014/main" id="{AD7EB7C7-43C0-3798-8A86-65C418DCDC82}"/>
              </a:ext>
            </a:extLst>
          </p:cNvPr>
          <p:cNvSpPr/>
          <p:nvPr/>
        </p:nvSpPr>
        <p:spPr>
          <a:xfrm>
            <a:off x="812110" y="9341540"/>
            <a:ext cx="190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2917"/>
              </a:lnSpc>
              <a:buNone/>
            </a:pPr>
            <a:r>
              <a:rPr lang="en-US" sz="1945" kern="0" spc="-75" dirty="0">
                <a:solidFill>
                  <a:srgbClr val="FFFFF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5</a:t>
            </a:r>
            <a:endParaRPr lang="en-US" sz="1945" dirty="0"/>
          </a:p>
        </p:txBody>
      </p:sp>
      <p:pic>
        <p:nvPicPr>
          <p:cNvPr id="16" name="Group 2043683003">
            <a:extLst>
              <a:ext uri="{FF2B5EF4-FFF2-40B4-BE49-F238E27FC236}">
                <a16:creationId xmlns:a16="http://schemas.microsoft.com/office/drawing/2014/main" id="{ABCC3889-AA72-50D3-A6B8-FA9CEBAA50E5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072"/>
          <a:stretch/>
        </p:blipFill>
        <p:spPr>
          <a:xfrm>
            <a:off x="504825" y="1252903"/>
            <a:ext cx="782485" cy="8643571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8FBBB9FB-7B5E-CF23-B850-CE298B1CA4CE}"/>
              </a:ext>
            </a:extLst>
          </p:cNvPr>
          <p:cNvSpPr/>
          <p:nvPr/>
        </p:nvSpPr>
        <p:spPr>
          <a:xfrm>
            <a:off x="483687" y="390525"/>
            <a:ext cx="824760" cy="8140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4E27C2B-E88E-40AF-AC3C-C9B398DCC7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4650" y="516255"/>
            <a:ext cx="577964" cy="623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28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81225" y="4600575"/>
            <a:ext cx="1392555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553"/>
              </a:lnSpc>
              <a:buNone/>
            </a:pPr>
            <a:r>
              <a:rPr lang="en-US" sz="7775" b="1" dirty="0">
                <a:solidFill>
                  <a:srgbClr val="FFFFFF"/>
                </a:solidFill>
                <a:latin typeface="Stem Bold" pitchFamily="34" charset="0"/>
                <a:ea typeface="Stem Bold" pitchFamily="34" charset="-122"/>
                <a:cs typeface="Stem Bold" pitchFamily="34" charset="-120"/>
              </a:rPr>
              <a:t>СПАСИБО ЗА ВНИМАНИЕ</a:t>
            </a:r>
            <a:r>
              <a:rPr lang="ru-RU" sz="7775" b="1" dirty="0">
                <a:solidFill>
                  <a:srgbClr val="FFFFFF"/>
                </a:solidFill>
                <a:latin typeface="Stem Bold" pitchFamily="34" charset="0"/>
                <a:ea typeface="Stem Bold" pitchFamily="34" charset="-122"/>
                <a:cs typeface="Stem Bold" pitchFamily="34" charset="-120"/>
              </a:rPr>
              <a:t>!</a:t>
            </a:r>
            <a:endParaRPr lang="en-US" sz="7775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4C22C1-86A0-4F72-B98A-60E16947E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665" y="746352"/>
            <a:ext cx="3513419" cy="234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E72EFE0-49BA-8A07-A85C-1630F9AAA14C}"/>
              </a:ext>
            </a:extLst>
          </p:cNvPr>
          <p:cNvSpPr/>
          <p:nvPr/>
        </p:nvSpPr>
        <p:spPr>
          <a:xfrm>
            <a:off x="1609725" y="561975"/>
            <a:ext cx="1138237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//</a:t>
            </a:r>
            <a:r>
              <a:rPr lang="ru-RU" sz="4200" kern="0" spc="-75" dirty="0">
                <a:solidFill>
                  <a:srgbClr val="00FFAF"/>
                </a:solidFill>
                <a:latin typeface="SB Sans Text Mono Regular" pitchFamily="34" charset="0"/>
                <a:ea typeface="SB Sans Text Mono Regular" pitchFamily="34" charset="-122"/>
                <a:cs typeface="SB Sans Text Mono Regular" pitchFamily="34" charset="-120"/>
              </a:rPr>
              <a:t> ДЛЯ ОФОРМЛЕНИЯ</a:t>
            </a:r>
            <a:endParaRPr lang="en-US" sz="4200" dirty="0"/>
          </a:p>
        </p:txBody>
      </p:sp>
      <p:pic>
        <p:nvPicPr>
          <p:cNvPr id="4" name="stiker_05" descr="preencoded.png">
            <a:extLst>
              <a:ext uri="{FF2B5EF4-FFF2-40B4-BE49-F238E27FC236}">
                <a16:creationId xmlns:a16="http://schemas.microsoft.com/office/drawing/2014/main" id="{EE47282C-BCCC-E357-9A30-05A4EAF139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45638" y="7087227"/>
            <a:ext cx="2337701" cy="2337702"/>
          </a:xfrm>
          <a:prstGeom prst="rect">
            <a:avLst/>
          </a:prstGeom>
        </p:spPr>
      </p:pic>
      <p:pic>
        <p:nvPicPr>
          <p:cNvPr id="5" name="Mask group" descr="preencoded.png">
            <a:extLst>
              <a:ext uri="{FF2B5EF4-FFF2-40B4-BE49-F238E27FC236}">
                <a16:creationId xmlns:a16="http://schemas.microsoft.com/office/drawing/2014/main" id="{0F4631EF-B45E-B69D-B165-6A3BDC7CC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23057" y="7114984"/>
            <a:ext cx="2917193" cy="25929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A431F9-FE69-E48E-68EB-D8CD14D3B7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00086" y="6811490"/>
            <a:ext cx="2530550" cy="26134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56A1FE-C002-BFC0-23EF-ED6BE7B6075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8701" y="3657240"/>
            <a:ext cx="3298343" cy="33473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575030-3E68-A798-52B7-9FF9AA572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311" y="3501150"/>
            <a:ext cx="3187700" cy="3187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2D8A21-ABE0-BA55-D51A-845557DB92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89766" y="3698893"/>
            <a:ext cx="3486036" cy="29631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7AABB99-A044-F265-457F-53803E203D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47725" y="1064998"/>
            <a:ext cx="2530550" cy="28490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2025B9-DF40-0096-692A-3AB98FEC89B2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5638" y="1352731"/>
            <a:ext cx="1601805" cy="18069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DCCB36-2AA0-5D01-D1BD-882885176551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1522" y="7186364"/>
            <a:ext cx="2696757" cy="21394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184D97-A921-7464-BCE8-6AD1F938E7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7044" y="951424"/>
            <a:ext cx="2763387" cy="27058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6B2C0F5-C151-058D-583C-6516E9E641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7250" y="2016726"/>
            <a:ext cx="1143000" cy="1143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684DED8-059C-9B0C-3574-E0590A5783F4}"/>
              </a:ext>
            </a:extLst>
          </p:cNvPr>
          <p:cNvSpPr/>
          <p:nvPr/>
        </p:nvSpPr>
        <p:spPr>
          <a:xfrm>
            <a:off x="483687" y="390525"/>
            <a:ext cx="824760" cy="8140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oup 2043683003">
            <a:extLst>
              <a:ext uri="{FF2B5EF4-FFF2-40B4-BE49-F238E27FC236}">
                <a16:creationId xmlns:a16="http://schemas.microsoft.com/office/drawing/2014/main" id="{07F0C21A-1893-A7A1-DBE9-D0235DDA698A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072"/>
          <a:stretch/>
        </p:blipFill>
        <p:spPr>
          <a:xfrm>
            <a:off x="504825" y="1252903"/>
            <a:ext cx="782485" cy="864357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5C3169E-7DF9-48DD-B52B-D05E4CDAF3B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4650" y="516255"/>
            <a:ext cx="577964" cy="6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15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266</Words>
  <Application>Microsoft Office PowerPoint</Application>
  <PresentationFormat>Произвольный</PresentationFormat>
  <Paragraphs>41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SB Sans Display Regular</vt:lpstr>
      <vt:lpstr>SB Sans Text Mono Regular</vt:lpstr>
      <vt:lpstr>Stem Bold</vt:lpstr>
      <vt:lpstr>Stem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Dilshod Sarimsakov</cp:lastModifiedBy>
  <cp:revision>15</cp:revision>
  <dcterms:created xsi:type="dcterms:W3CDTF">2024-10-25T10:57:49Z</dcterms:created>
  <dcterms:modified xsi:type="dcterms:W3CDTF">2025-12-09T06:20:14Z</dcterms:modified>
</cp:coreProperties>
</file>